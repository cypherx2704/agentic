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12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194560" y="4389120"/>
            <a:ext cx="4206240" cy="4206240"/>
          </a:xfrm>
          <a:prstGeom prst="ellipse">
            <a:avLst/>
          </a:prstGeom>
          <a:solidFill>
            <a:srgbClr val="12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B6"/>
                </a:solidFill>
                <a:latin typeface="Segoe UI Semibold"/>
              </a:rPr>
              <a:t>TEAM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Problem Statement ID  —  [fill from portal]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Problem Statement Title  —  A Standard, Multi-Tenant Platform for Building &amp; Orchestrating 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11095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Theme  —  Software / AI &amp; Emerging Technologies          PS Category  — 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CypherX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C9D3E0"/>
                </a:solidFill>
                <a:latin typeface="Segoe UI"/>
              </a:rPr>
              <a:t>The Multi-Tenant, Language-Agnostic Platform for Building &amp; Orchestrating AI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976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0">
                <a:solidFill>
                  <a:srgbClr val="22D3B6"/>
                </a:solidFill>
                <a:latin typeface="Segoe UI"/>
              </a:rPr>
              <a:t>A2A Protocol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42976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0">
                <a:solidFill>
                  <a:srgbClr val="8B6CFF"/>
                </a:solidFill>
                <a:latin typeface="Segoe UI"/>
              </a:rPr>
              <a:t>MCP Native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429768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0">
                <a:solidFill>
                  <a:srgbClr val="4F8CFF"/>
                </a:solidFill>
                <a:latin typeface="Segoe UI"/>
              </a:rPr>
              <a:t>5 SaaS Services Live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42976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FFA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0">
                <a:solidFill>
                  <a:srgbClr val="FFA53D"/>
                </a:solidFill>
                <a:latin typeface="Segoe UI"/>
              </a:rPr>
              <a:t>27-Service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6AB"/>
                </a:solidFill>
                <a:latin typeface="Segoe UI"/>
              </a:rPr>
              <a:t>Team Name  —  CypherX AI          Team ID  —  [fill from portal]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01/12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The Agentic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Every team building AI agents reinvents the same plumbing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166360" cy="150876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82296" cy="150876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17647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No standard way for agents to talk to each other.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194560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9D3E0"/>
                </a:solidFill>
                <a:latin typeface="Segoe UI"/>
              </a:rPr>
              <a:t>Every team hand-rolls its own inter-agent protocol — there is no shared A2A / task-delegation standard.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166360" cy="150876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82296" cy="1508760"/>
          </a:xfrm>
          <a:prstGeom prst="rect">
            <a:avLst/>
          </a:prstGeom>
          <a:solidFill>
            <a:srgbClr val="FFA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76479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Auth, safety and memory are bolted on late.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194560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9D3E0"/>
                </a:solidFill>
                <a:latin typeface="Segoe UI"/>
              </a:rPr>
              <a:t>Multi-tenant isolation, guardrails and long-term memory get built per-project, inconsistently, after something goes wrong.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5166360" cy="150876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82296" cy="150876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341071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Vendor lock-in to one LLM provider.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3840480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9D3E0"/>
                </a:solidFill>
                <a:latin typeface="Segoe UI"/>
              </a:rPr>
              <a:t>Switching or load-balancing across Anthropic/OpenAI/Bedrock means rewriting the integration layer each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246120"/>
            <a:ext cx="5166360" cy="150876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246120"/>
            <a:ext cx="82296" cy="150876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41071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"/>
              </a:rPr>
              <a:t>Tools and skills don't compose across stacks.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3840480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9D3E0"/>
                </a:solidFill>
                <a:latin typeface="Segoe UI"/>
              </a:rPr>
              <a:t>A Python tool can't easily be reused by a Node agent — no shared, language-agnostic tool-invocation contract.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1">
                <a:solidFill>
                  <a:srgbClr val="22D3B6"/>
                </a:solidFill>
                <a:latin typeface="Segoe UI"/>
              </a:rPr>
              <a:t>Result: months of undifferentiated plumbing before a single agent ships — and every team's plumbing is incompatible with every other team's.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02/12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The Agentic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Build, secure and orchestrate agents — out of the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D3E0"/>
                </a:solidFill>
                <a:latin typeface="Segoe UI"/>
              </a:rPr>
              <a:t>CypherX AI ships the plumbing as independently deployable, standalone SaaS services — Auth, LLM Gateway, Guardrails, Memory and RAG — plus an agent runtime (xAgent) that speaks two open protocols: A2A for agent-to-agent delegation and MCP for tool &amp; skill invocation.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3520440" cy="233172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514600"/>
            <a:ext cx="3520440" cy="82296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2D3B6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Standard Protocols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A2A lets agents delegate tasks to each other across languages; MCP lets any agent invoke any tool or skill through one contract.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14600"/>
            <a:ext cx="3520440" cy="233172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514600"/>
            <a:ext cx="3520440" cy="82296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7432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8B6C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246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SharedCore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6576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Auth (agent identity), LLMs (multi-provider gateway), Guardrails, Memory and RAG — each sellable standalone, each multi-tenant from day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2514600"/>
            <a:ext cx="3520440" cy="233172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2514600"/>
            <a:ext cx="3520440" cy="82296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7432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F8CFF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461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Build Once, Run Anywhere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6576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Contract-first, language-agnostic services glued by HTTP/JSON — Kotlin, Python or any stack can implement a service or a tool.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FFA53D"/>
                </a:solidFill>
                <a:latin typeface="Segoe UI"/>
              </a:rPr>
              <a:t>Innovation: frameworks (LangChain, CrewAI) give you code you still have to operate. Single-vendor agent platforms lock you in. CypherX is the only one that is both a running multi-tenant SaaS AND vendor-agnostic.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03/12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The Agentic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One user task, through the full safety-checked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1">
                <a:solidFill>
                  <a:srgbClr val="22D3B6"/>
                </a:solidFill>
                <a:latin typeface="Segoe UI"/>
              </a:rPr>
              <a:t>“Summarise our Q3 incidents and email the on-call lead”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1" y="2103120"/>
            <a:ext cx="987552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A9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User /
Frontend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77924" y="2491739"/>
            <a:ext cx="100583" cy="0"/>
          </a:xfrm>
          <a:prstGeom prst="line">
            <a:avLst/>
          </a:prstGeom>
          <a:ln w="1778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778507" y="2103120"/>
            <a:ext cx="987552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xAgent
Runtime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66060" y="2491739"/>
            <a:ext cx="100584" cy="0"/>
          </a:xfrm>
          <a:prstGeom prst="line">
            <a:avLst/>
          </a:prstGeom>
          <a:ln w="1778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66644" y="2103120"/>
            <a:ext cx="987552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Auth
(verify JWT)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4196" y="2491739"/>
            <a:ext cx="100583" cy="0"/>
          </a:xfrm>
          <a:prstGeom prst="line">
            <a:avLst/>
          </a:prstGeom>
          <a:ln w="1778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54779" y="2103120"/>
            <a:ext cx="987552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Guardrails
(check input)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42331" y="2491739"/>
            <a:ext cx="100585" cy="0"/>
          </a:xfrm>
          <a:prstGeom prst="line">
            <a:avLst/>
          </a:prstGeom>
          <a:ln w="1778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42916" y="2103120"/>
            <a:ext cx="987552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Memory
(retrieve)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0468" y="2491739"/>
            <a:ext cx="100583" cy="0"/>
          </a:xfrm>
          <a:prstGeom prst="line">
            <a:avLst/>
          </a:prstGeom>
          <a:ln w="1778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31051" y="2103120"/>
            <a:ext cx="987552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Skill
(retrieve)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18603" y="2491739"/>
            <a:ext cx="100585" cy="0"/>
          </a:xfrm>
          <a:prstGeom prst="line">
            <a:avLst/>
          </a:prstGeom>
          <a:ln w="1778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19188" y="2103120"/>
            <a:ext cx="987552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FFA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LLMs
Gateway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06740" y="2491739"/>
            <a:ext cx="100583" cy="0"/>
          </a:xfrm>
          <a:prstGeom prst="line">
            <a:avLst/>
          </a:prstGeom>
          <a:ln w="1778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307323" y="2103120"/>
            <a:ext cx="987552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Guardrails
(check output)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94876" y="2491739"/>
            <a:ext cx="100583" cy="0"/>
          </a:xfrm>
          <a:prstGeom prst="line">
            <a:avLst/>
          </a:prstGeom>
          <a:ln w="1778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95459" y="2103120"/>
            <a:ext cx="987552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Memory
(store)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383011" y="2491739"/>
            <a:ext cx="100584" cy="0"/>
          </a:xfrm>
          <a:prstGeom prst="line">
            <a:avLst/>
          </a:prstGeom>
          <a:ln w="17780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483595" y="2103120"/>
            <a:ext cx="987552" cy="7772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54679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9D3E0"/>
                </a:solidFill>
                <a:latin typeface="Segoe UI"/>
              </a:rPr>
              <a:t>Every hop is authenticated, every prompt and response is policy-checked, and the LLM call is routed — or failed-over — across providers by the gateway.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657600"/>
            <a:ext cx="10881360" cy="141732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79476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2D3B6"/>
                </a:solidFill>
                <a:latin typeface="Segoe UI Semibold"/>
              </a:rPr>
              <a:t>MULTI-AGENT VARIANT — A2A ORCHESTRATION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14800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C9D3E0"/>
                </a:solidFill>
                <a:latin typeface="Segoe UI"/>
              </a:rPr>
              <a:t>For complex goals, an Orchestrator agent decomposes the task and delegates subtasks to specialist agents over signed A2A calls — in parallel, with retries and timeouts — then synthesises their results into one answer via the LLM Gateway.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04/12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The Agentic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Platform architecture — layered, protocol-glued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438912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A9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200" b="1">
                <a:solidFill>
                  <a:srgbClr val="C9D3E0"/>
                </a:solidFill>
                <a:latin typeface="Segoe UI"/>
              </a:rPr>
              <a:t>Frontend / Console</a:t>
            </a:r>
          </a:p>
          <a:p>
            <a:pPr algn="ctr"/>
            <a:r>
              <a:rPr sz="850">
                <a:solidFill>
                  <a:srgbClr val="8A96AB"/>
                </a:solidFill>
                <a:latin typeface="Segoe UI"/>
              </a:rPr>
              <a:t>Agent Builder · Orchestration Canvas · SharedCore Dashboards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039112"/>
            <a:ext cx="0" cy="182880"/>
          </a:xfrm>
          <a:prstGeom prst="line">
            <a:avLst/>
          </a:prstGeom>
          <a:ln w="22225">
            <a:solidFill>
              <a:srgbClr val="8A96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737360" y="2295144"/>
            <a:ext cx="8686800" cy="384048"/>
          </a:xfrm>
          <a:prstGeom prst="roundRect">
            <a:avLst>
              <a:gd name="adj" fmla="val 14000"/>
            </a:avLst>
          </a:prstGeom>
          <a:solidFill>
            <a:srgbClr val="121B2E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Platform — Service Registry · Config · Deployments · Observability · Billing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103120" y="2679191"/>
            <a:ext cx="914400" cy="182881"/>
          </a:xfrm>
          <a:prstGeom prst="line">
            <a:avLst/>
          </a:prstGeom>
          <a:ln w="15875">
            <a:solidFill>
              <a:srgbClr val="4F8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679191"/>
            <a:ext cx="0" cy="182881"/>
          </a:xfrm>
          <a:prstGeom prst="line">
            <a:avLst/>
          </a:prstGeom>
          <a:ln w="15875">
            <a:solidFill>
              <a:srgbClr val="4F8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0" y="2679191"/>
            <a:ext cx="914400" cy="182881"/>
          </a:xfrm>
          <a:prstGeom prst="line">
            <a:avLst/>
          </a:prstGeom>
          <a:ln w="15875">
            <a:solidFill>
              <a:srgbClr val="4F8C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2935224"/>
            <a:ext cx="2651760" cy="36576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px0 — Company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55848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96AB"/>
                </a:solidFill>
                <a:latin typeface="Segoe UI"/>
              </a:rPr>
              <a:t>Identity · Billing · Notifications · Audit log · API Gateway (already built)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35224"/>
            <a:ext cx="2651760" cy="141732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20440" y="2935224"/>
            <a:ext cx="4754880" cy="141732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99008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xAgent Runtime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3300984"/>
            <a:ext cx="1737360" cy="41148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Agent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300984"/>
            <a:ext cx="1737360" cy="41148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Agent 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32120" y="3502152"/>
            <a:ext cx="731520" cy="0"/>
          </a:xfrm>
          <a:prstGeom prst="line">
            <a:avLst/>
          </a:prstGeom>
          <a:ln w="19050">
            <a:solidFill>
              <a:srgbClr val="22D3B6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4920" y="331927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2D3B6"/>
                </a:solidFill>
                <a:latin typeface="Segoe UI"/>
              </a:rPr>
              <a:t>A2A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803904"/>
            <a:ext cx="4389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8A96AB"/>
                </a:solidFill>
                <a:latin typeface="Segoe UI"/>
              </a:rPr>
              <a:t>+ Orchestrator (meta-agent): decomposes goals → routes subtasks → synthesises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2935224"/>
            <a:ext cx="2971800" cy="141732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99008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SharedCore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59367" y="3319272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C9D3E0"/>
                </a:solidFill>
                <a:latin typeface="Segoe UI"/>
              </a:rPr>
              <a:t>Auth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92056" y="3319272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C9D3E0"/>
                </a:solidFill>
                <a:latin typeface="Segoe UI"/>
              </a:rPr>
              <a:t>LLMs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24744" y="3319272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C9D3E0"/>
                </a:solidFill>
                <a:latin typeface="Segoe UI"/>
              </a:rPr>
              <a:t>Guardrails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25712" y="3685032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C9D3E0"/>
                </a:solidFill>
                <a:latin typeface="Segoe UI"/>
              </a:rPr>
              <a:t>Memory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3685032"/>
            <a:ext cx="877824" cy="310896"/>
          </a:xfrm>
          <a:prstGeom prst="roundRect">
            <a:avLst>
              <a:gd name="adj" fmla="val 50000"/>
            </a:avLst>
          </a:prstGeom>
          <a:solidFill>
            <a:srgbClr val="18243B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C9D3E0"/>
                </a:solidFill>
                <a:latin typeface="Segoe UI"/>
              </a:rPr>
              <a:t>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069080"/>
            <a:ext cx="2697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8A96AB"/>
                </a:solidFill>
                <a:latin typeface="Segoe UI"/>
              </a:rPr>
              <a:t>5 standalone SaaS services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63440" y="4352544"/>
            <a:ext cx="0" cy="201168"/>
          </a:xfrm>
          <a:prstGeom prst="line">
            <a:avLst/>
          </a:prstGeom>
          <a:ln w="19050">
            <a:solidFill>
              <a:srgbClr val="FFA5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132320" y="4352544"/>
            <a:ext cx="0" cy="201168"/>
          </a:xfrm>
          <a:prstGeom prst="line">
            <a:avLst/>
          </a:prstGeom>
          <a:ln w="19050">
            <a:solidFill>
              <a:srgbClr val="FFA5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800600" y="4370831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A53D"/>
                </a:solidFill>
                <a:latin typeface="Segoe UI"/>
              </a:rPr>
              <a:t>MCP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4553712"/>
            <a:ext cx="2286000" cy="384048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FFA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Tools</a:t>
            </a:r>
          </a:p>
          <a:p>
            <a:pPr algn="ctr"/>
            <a:r>
              <a:rPr sz="750">
                <a:solidFill>
                  <a:srgbClr val="8A96AB"/>
                </a:solidFill>
                <a:latin typeface="Segoe UI"/>
              </a:rPr>
              <a:t>MCP servers: web-search · code-exec · files · HTTP · DB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4553712"/>
            <a:ext cx="2286000" cy="384048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FFA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Skills</a:t>
            </a:r>
          </a:p>
          <a:p>
            <a:pPr algn="ctr"/>
            <a:r>
              <a:rPr sz="750">
                <a:solidFill>
                  <a:srgbClr val="8A96AB"/>
                </a:solidFill>
                <a:latin typeface="Segoe UI"/>
              </a:rPr>
              <a:t>Declarative workflows, retrieved via RAG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05/12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The Agentic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Technology stack — contract-first, language-agnostic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73152" cy="1234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222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Glue &amp; CRUD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9D3E0"/>
                </a:solidFill>
                <a:latin typeface="Segoe UI"/>
              </a:rPr>
              <a:t>Kotlin + Spring + Gradle — Auth, Platform, px0-bridge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73152" cy="1234440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9222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AI &amp; agent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76272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9D3E0"/>
                </a:solidFill>
                <a:latin typeface="Segoe UI"/>
              </a:rPr>
              <a:t>Python + FastAPI + uv — LLMs, Guardrails, Memory, RAG, xAgent, A2A router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36392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36392"/>
            <a:ext cx="73152" cy="1234440"/>
          </a:xfrm>
          <a:prstGeom prst="rect">
            <a:avLst/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8269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66744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9D3E0"/>
                </a:solidFill>
                <a:latin typeface="Segoe UI"/>
              </a:rPr>
              <a:t>Next.js SPA + Fastify BFF — Agent Builder, Orchestration Canvas, dashboards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136392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136392"/>
            <a:ext cx="73152" cy="1234440"/>
          </a:xfrm>
          <a:prstGeom prst="rect">
            <a:avLst/>
          </a:prstGeom>
          <a:solidFill>
            <a:srgbClr val="FFA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28269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Tools (MCP servers)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666744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9D3E0"/>
                </a:solidFill>
                <a:latin typeface="Segoe UI"/>
              </a:rPr>
              <a:t>Any language — MCP is the only contract that matters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26864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626864"/>
            <a:ext cx="73152" cy="12344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7316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Data &amp; eventing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57216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9D3E0"/>
                </a:solidFill>
                <a:latin typeface="Segoe UI"/>
              </a:rPr>
              <a:t>Postgres (Neon) + Atlas migrations · Kafka (Redpanda) · Valkey cache · MinIO object storage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626864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626864"/>
            <a:ext cx="73152" cy="1234440"/>
          </a:xfrm>
          <a:prstGeom prst="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77316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Cloud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157216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C9D3E0"/>
                </a:solidFill>
                <a:latin typeface="Segoe UI"/>
              </a:rPr>
              <a:t>AWS EKS + Kong + Istio + MSK + RDS · Terraform/Terragrunt · GitHub Actions + ArgoCD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06/12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The Agentic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FEASIBILITY &amp;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Not a concept deck — a running 27-service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B6"/>
                </a:solidFill>
                <a:latin typeface="Segoe UI Semibold"/>
              </a:rPr>
              <a:t>WHAT'S ALREADY LIVE &amp;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212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1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50" b="1">
                <a:solidFill>
                  <a:srgbClr val="FFFFFF"/>
                </a:solidFill>
                <a:latin typeface="Segoe UI"/>
              </a:rPr>
              <a:t>Contract-15 end-to-end suite: </a:t>
            </a:r>
            <a:r>
              <a:rPr sz="1150">
                <a:solidFill>
                  <a:srgbClr val="C9D3E0"/>
                </a:solidFill>
                <a:latin typeface="Segoe UI"/>
              </a:rPr>
              <a:t>59/59 passing across the proven Auth → xAgent → Guardrails → LLMs spine.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1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50" b="1">
                <a:solidFill>
                  <a:srgbClr val="FFFFFF"/>
                </a:solidFill>
                <a:latin typeface="Segoe UI"/>
              </a:rPr>
              <a:t>5 SharedCore services running: </a:t>
            </a:r>
            <a:r>
              <a:rPr sz="1150">
                <a:solidFill>
                  <a:srgbClr val="C9D3E0"/>
                </a:solidFill>
                <a:latin typeface="Segoe UI"/>
              </a:rPr>
              <a:t>Auth (~60%), LLMs Gateway (~45%), Guardrails (~50%), RAG (~50%), Memory (~35%) of full enterprise spec — all first-cycle complete.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1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50" b="1">
                <a:solidFill>
                  <a:srgbClr val="FFFFFF"/>
                </a:solidFill>
                <a:latin typeface="Segoe UI"/>
              </a:rPr>
              <a:t>Agent runtime + registries: </a:t>
            </a:r>
            <a:r>
              <a:rPr sz="1150">
                <a:solidFill>
                  <a:srgbClr val="C9D3E0"/>
                </a:solidFill>
                <a:latin typeface="Segoe UI"/>
              </a:rPr>
              <a:t>xAgent core (~60%, 9A stage 100%), Tool Registry (~65%), tool-web-search (~90%), Skill Registry (~30%).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1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50" b="1">
                <a:solidFill>
                  <a:srgbClr val="FFFFFF"/>
                </a:solidFill>
                <a:latin typeface="Segoe UI"/>
              </a:rPr>
              <a:t>Full Console shipped: </a:t>
            </a:r>
            <a:r>
              <a:rPr sz="1150">
                <a:solidFill>
                  <a:srgbClr val="C9D3E0"/>
                </a:solidFill>
                <a:latin typeface="Segoe UI"/>
              </a:rPr>
              <a:t>Next.js + Fastify BFF frontend at ~85% first-cycle, plus a flagship product (cypherx-a1) already at MVP.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1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50" b="1">
                <a:solidFill>
                  <a:srgbClr val="FFFFFF"/>
                </a:solidFill>
                <a:latin typeface="Segoe UI"/>
              </a:rPr>
              <a:t>21 published contracts: </a:t>
            </a:r>
            <a:r>
              <a:rPr sz="1150">
                <a:solidFill>
                  <a:srgbClr val="C9D3E0"/>
                </a:solidFill>
                <a:latin typeface="Segoe UI"/>
              </a:rPr>
              <a:t>the cross-service agreements are ~95–100% complete — the strongest part of the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727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A53D"/>
                </a:solidFill>
                <a:latin typeface="Segoe UI Semibold"/>
              </a:rPr>
              <a:t>WHAT'S NEXT, HONESTLY SCOPED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20240"/>
            <a:ext cx="5212080" cy="86868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9339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A2A router + Orchestrator (xAgent/ax-2)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31136"/>
            <a:ext cx="4754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FFA53D"/>
                </a:solidFill>
                <a:latin typeface="Segoe UI"/>
              </a:rPr>
              <a:t>Greenfield, 0%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C9D3E0"/>
                </a:solidFill>
                <a:latin typeface="Segoe UI"/>
              </a:rPr>
              <a:t>Contracts + single-agent runtime already prove the pattern; this is additive, not a redesign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862072"/>
            <a:ext cx="5212080" cy="86868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93522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Platform control plane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72968"/>
            <a:ext cx="4754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FFA53D"/>
                </a:solidFill>
                <a:latin typeface="Segoe UI"/>
              </a:rPr>
              <a:t>Greenfield, 0%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64991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C9D3E0"/>
                </a:solidFill>
                <a:latin typeface="Segoe UI"/>
              </a:rPr>
              <a:t>Service registry / config / deploy mgmt — scoped, not required for today's agent-to-agent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03904"/>
            <a:ext cx="5212080" cy="86868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7705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Full Skills execution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4754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FFA53D"/>
                </a:solidFill>
                <a:latin typeface="Segoe UI"/>
              </a:rPr>
              <a:t>~30%, catalogue-only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06824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C9D3E0"/>
                </a:solidFill>
                <a:latin typeface="Segoe UI"/>
              </a:rPr>
              <a:t>Retriever + step-execution is the next slice; schema and registry already exist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745736"/>
            <a:ext cx="5212080" cy="86868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81888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SDKs (Python/TS)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056632"/>
            <a:ext cx="4754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FFA53D"/>
                </a:solidFill>
                <a:latin typeface="Segoe UI"/>
              </a:rPr>
              <a:t>0%, deferred by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248656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C9D3E0"/>
                </a:solidFill>
                <a:latin typeface="Segoe UI"/>
              </a:rPr>
              <a:t>Intentionally waits for APIs to stabilize — avoids locking a shape that would need breaking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07/12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The Agentic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IMPACT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Who benefits, and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320040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11E"/>
                </a:solidFill>
                <a:latin typeface="Segoe UI"/>
              </a:rPr>
              <a:t>Developers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0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00">
                <a:solidFill>
                  <a:srgbClr val="C9D3E0"/>
                </a:solidFill>
                <a:latin typeface="Segoe UI"/>
              </a:rPr>
              <a:t>Skip building auth, guardrails, memory and RAG from scratch — focus on agent logic, not plumbing</a:t>
            </a:r>
          </a:p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0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00">
                <a:solidFill>
                  <a:srgbClr val="C9D3E0"/>
                </a:solidFill>
                <a:latin typeface="Segoe UI"/>
              </a:rPr>
              <a:t>One MCP contract to invoke any tool, in any language</a:t>
            </a:r>
          </a:p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0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00">
                <a:solidFill>
                  <a:srgbClr val="C9D3E0"/>
                </a:solidFill>
                <a:latin typeface="Segoe UI"/>
              </a:rPr>
              <a:t>Switch or load-balance LLM providers without rewriting integrations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520440" cy="320040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8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719072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11E"/>
                </a:solidFill>
                <a:latin typeface="Segoe UI"/>
              </a:rPr>
              <a:t>Enterprises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00" b="1">
                <a:solidFill>
                  <a:srgbClr val="8B6CFF"/>
                </a:solidFill>
                <a:latin typeface="Segoe UI"/>
              </a:rPr>
              <a:t>›  </a:t>
            </a:r>
            <a:r>
              <a:rPr sz="1100">
                <a:solidFill>
                  <a:srgbClr val="C9D3E0"/>
                </a:solidFill>
                <a:latin typeface="Segoe UI"/>
              </a:rPr>
              <a:t>Multi-tenant isolation and guardrails-enforced compliance from day one, not bolted on later</a:t>
            </a:r>
          </a:p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00" b="1">
                <a:solidFill>
                  <a:srgbClr val="8B6CFF"/>
                </a:solidFill>
                <a:latin typeface="Segoe UI"/>
              </a:rPr>
              <a:t>›  </a:t>
            </a:r>
            <a:r>
              <a:rPr sz="1100">
                <a:solidFill>
                  <a:srgbClr val="C9D3E0"/>
                </a:solidFill>
                <a:latin typeface="Segoe UI"/>
              </a:rPr>
              <a:t>SaaS or self-host — data-residency and audit requirements both satisfied</a:t>
            </a:r>
          </a:p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00" b="1">
                <a:solidFill>
                  <a:srgbClr val="8B6CFF"/>
                </a:solidFill>
                <a:latin typeface="Segoe UI"/>
              </a:rPr>
              <a:t>›  </a:t>
            </a:r>
            <a:r>
              <a:rPr sz="1100">
                <a:solidFill>
                  <a:srgbClr val="C9D3E0"/>
                </a:solidFill>
                <a:latin typeface="Segoe UI"/>
              </a:rPr>
              <a:t>Full observability: tracing, cost-per-task and cost-per-tenant out of the box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600200"/>
            <a:ext cx="3520440" cy="320040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59" y="1600200"/>
            <a:ext cx="3520440" cy="502920"/>
          </a:xfrm>
          <a:prstGeom prst="roundRect">
            <a:avLst>
              <a:gd name="adj" fmla="val 10000"/>
            </a:avLst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1719072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11E"/>
                </a:solidFill>
                <a:latin typeface="Segoe UI"/>
              </a:rPr>
              <a:t>The AI Ecosystem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00" b="1">
                <a:solidFill>
                  <a:srgbClr val="4F8CFF"/>
                </a:solidFill>
                <a:latin typeface="Segoe UI"/>
              </a:rPr>
              <a:t>›  </a:t>
            </a:r>
            <a:r>
              <a:rPr sz="1100">
                <a:solidFill>
                  <a:srgbClr val="C9D3E0"/>
                </a:solidFill>
                <a:latin typeface="Segoe UI"/>
              </a:rPr>
              <a:t>Open A2A + MCP protocols mean agents from different vendors and languages can genuinely collaborate</a:t>
            </a:r>
          </a:p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00" b="1">
                <a:solidFill>
                  <a:srgbClr val="4F8CFF"/>
                </a:solidFill>
                <a:latin typeface="Segoe UI"/>
              </a:rPr>
              <a:t>›  </a:t>
            </a:r>
            <a:r>
              <a:rPr sz="1100">
                <a:solidFill>
                  <a:srgbClr val="C9D3E0"/>
                </a:solidFill>
                <a:latin typeface="Segoe UI"/>
              </a:rPr>
              <a:t>No single-vendor lock-in — the gateway abstracts the provider layer</a:t>
            </a:r>
          </a:p>
          <a:p>
            <a:pPr>
              <a:lnSpc>
                <a:spcPct val="108000"/>
              </a:lnSpc>
              <a:spcAft>
                <a:spcPts val="1296"/>
              </a:spcAft>
            </a:pPr>
            <a:r>
              <a:rPr sz="1100" b="1">
                <a:solidFill>
                  <a:srgbClr val="4F8CFF"/>
                </a:solidFill>
                <a:latin typeface="Segoe UI"/>
              </a:rPr>
              <a:t>›  </a:t>
            </a:r>
            <a:r>
              <a:rPr sz="1100">
                <a:solidFill>
                  <a:srgbClr val="C9D3E0"/>
                </a:solidFill>
                <a:latin typeface="Segoe UI"/>
              </a:rPr>
              <a:t>A standard worth building on, not another walled garden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08/12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The Agentic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Competitive differentiation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931920" cy="502920"/>
          </a:xfrm>
          <a:prstGeom prst="roundRect">
            <a:avLst>
              <a:gd name="adj" fmla="val 6000"/>
            </a:avLst>
          </a:prstGeom>
          <a:solidFill>
            <a:srgbClr val="18243B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1682496"/>
            <a:ext cx="3785615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9D3E0"/>
                </a:solidFill>
                <a:latin typeface="Segoe UI"/>
              </a:rPr>
              <a:t>Capability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1691640" cy="502920"/>
          </a:xfrm>
          <a:prstGeom prst="roundRect">
            <a:avLst>
              <a:gd name="adj" fmla="val 6000"/>
            </a:avLst>
          </a:prstGeom>
          <a:solidFill>
            <a:srgbClr val="18243B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682496"/>
            <a:ext cx="154533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9D3E0"/>
                </a:solidFill>
                <a:latin typeface="Segoe UI"/>
              </a:rPr>
              <a:t>Agent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9D3E0"/>
                </a:solidFill>
                <a:latin typeface="Segoe UI"/>
              </a:rPr>
              <a:t>frameworks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1783080" cy="502920"/>
          </a:xfrm>
          <a:prstGeom prst="roundRect">
            <a:avLst>
              <a:gd name="adj" fmla="val 6000"/>
            </a:avLst>
          </a:prstGeom>
          <a:solidFill>
            <a:srgbClr val="18243B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682496"/>
            <a:ext cx="163677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9D3E0"/>
                </a:solidFill>
                <a:latin typeface="Segoe UI"/>
              </a:rPr>
              <a:t>Single-vendor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9D3E0"/>
                </a:solidFill>
                <a:latin typeface="Segoe UI"/>
              </a:rPr>
              <a:t>agent platforms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45920"/>
            <a:ext cx="1600200" cy="502920"/>
          </a:xfrm>
          <a:prstGeom prst="roundRect">
            <a:avLst>
              <a:gd name="adj" fmla="val 6000"/>
            </a:avLst>
          </a:prstGeom>
          <a:solidFill>
            <a:srgbClr val="18243B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1" y="1682496"/>
            <a:ext cx="145389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9D3E0"/>
                </a:solidFill>
                <a:latin typeface="Segoe UI"/>
              </a:rPr>
              <a:t>Build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C9D3E0"/>
                </a:solidFill>
                <a:latin typeface="Segoe UI"/>
              </a:rPr>
              <a:t>in-house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19" y="1645920"/>
            <a:ext cx="1874519" cy="502920"/>
          </a:xfrm>
          <a:prstGeom prst="roundRect">
            <a:avLst>
              <a:gd name="adj" fmla="val 6000"/>
            </a:avLst>
          </a:prstGeom>
          <a:solidFill>
            <a:srgbClr val="22D3B6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20072" y="1682496"/>
            <a:ext cx="1728216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11E"/>
                </a:solidFill>
                <a:latin typeface="Segoe UI"/>
              </a:rPr>
              <a:t>CypherX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148840"/>
            <a:ext cx="393192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14884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9D3E0"/>
                </a:solidFill>
                <a:latin typeface="Segoe UI"/>
              </a:rPr>
              <a:t>Multi-tenant SaaS services, not just a library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148840"/>
            <a:ext cx="169164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2148840"/>
            <a:ext cx="1508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148840"/>
            <a:ext cx="178308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148840"/>
            <a:ext cx="1600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partial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2148840"/>
            <a:ext cx="160020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7" y="214884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months of 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19" y="2148840"/>
            <a:ext cx="1874519" cy="502920"/>
          </a:xfrm>
          <a:prstGeom prst="roundRect">
            <a:avLst>
              <a:gd name="adj" fmla="val 0"/>
            </a:avLst>
          </a:prstGeom>
          <a:solidFill>
            <a:srgbClr val="102A28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6647" y="2148840"/>
            <a:ext cx="16916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D3B6"/>
                </a:solidFill>
                <a:latin typeface="Segoe U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2651760"/>
            <a:ext cx="393192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65176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9D3E0"/>
                </a:solidFill>
                <a:latin typeface="Segoe UI"/>
              </a:rPr>
              <a:t>Vendor-agnostic LLM routing &amp; fallback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2651760"/>
            <a:ext cx="169164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2651760"/>
            <a:ext cx="1508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651760"/>
            <a:ext cx="178308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2651760"/>
            <a:ext cx="1600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2651760"/>
            <a:ext cx="160020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7" y="265176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varies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6919" y="2651760"/>
            <a:ext cx="1874519" cy="502920"/>
          </a:xfrm>
          <a:prstGeom prst="roundRect">
            <a:avLst>
              <a:gd name="adj" fmla="val 0"/>
            </a:avLst>
          </a:prstGeom>
          <a:solidFill>
            <a:srgbClr val="102A28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56647" y="2651760"/>
            <a:ext cx="16916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D3B6"/>
                </a:solidFill>
                <a:latin typeface="Segoe UI"/>
              </a:rP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3154680"/>
            <a:ext cx="393192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315468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9D3E0"/>
                </a:solidFill>
                <a:latin typeface="Segoe UI"/>
              </a:rPr>
              <a:t>Built-in guardrails, memory &amp; RAG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3154680"/>
            <a:ext cx="169164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1728" y="3154680"/>
            <a:ext cx="1508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partial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154680"/>
            <a:ext cx="178308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3154680"/>
            <a:ext cx="1600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partial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19" y="3154680"/>
            <a:ext cx="160020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56447" y="315468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varies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46919" y="3154680"/>
            <a:ext cx="1874519" cy="502920"/>
          </a:xfrm>
          <a:prstGeom prst="roundRect">
            <a:avLst>
              <a:gd name="adj" fmla="val 0"/>
            </a:avLst>
          </a:prstGeom>
          <a:solidFill>
            <a:srgbClr val="102A28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56647" y="3154680"/>
            <a:ext cx="16916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D3B6"/>
                </a:solidFill>
                <a:latin typeface="Segoe UI"/>
              </a:rPr>
              <a:t>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3657600"/>
            <a:ext cx="393192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365760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9D3E0"/>
                </a:solidFill>
                <a:latin typeface="Segoe UI"/>
              </a:rPr>
              <a:t>Standard agent-to-agent protocol (A2A)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0" y="3657600"/>
            <a:ext cx="169164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81728" y="3657600"/>
            <a:ext cx="1508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3657600"/>
            <a:ext cx="178308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73368" y="3657600"/>
            <a:ext cx="1600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19" y="3657600"/>
            <a:ext cx="160020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56447" y="365760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46919" y="3657600"/>
            <a:ext cx="1874519" cy="502920"/>
          </a:xfrm>
          <a:prstGeom prst="roundRect">
            <a:avLst>
              <a:gd name="adj" fmla="val 0"/>
            </a:avLst>
          </a:prstGeom>
          <a:solidFill>
            <a:srgbClr val="102A28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56647" y="3657600"/>
            <a:ext cx="16916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D3B6"/>
                </a:solidFill>
                <a:latin typeface="Segoe UI"/>
              </a:rPr>
              <a:t>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4160520"/>
            <a:ext cx="393192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" y="416052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9D3E0"/>
                </a:solidFill>
                <a:latin typeface="Segoe UI"/>
              </a:rPr>
              <a:t>Language-agnostic tools via MCP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0" y="4160520"/>
            <a:ext cx="169164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81728" y="4160520"/>
            <a:ext cx="1508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partial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3640" y="4160520"/>
            <a:ext cx="178308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73368" y="4160520"/>
            <a:ext cx="1600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19" y="4160520"/>
            <a:ext cx="160020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56447" y="416052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varies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46919" y="4160520"/>
            <a:ext cx="1874519" cy="502920"/>
          </a:xfrm>
          <a:prstGeom prst="roundRect">
            <a:avLst>
              <a:gd name="adj" fmla="val 0"/>
            </a:avLst>
          </a:prstGeom>
          <a:solidFill>
            <a:srgbClr val="102A28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56647" y="4160520"/>
            <a:ext cx="16916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D3B6"/>
                </a:solidFill>
                <a:latin typeface="Segoe UI"/>
              </a:rPr>
              <a:t>✓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" y="4663440"/>
            <a:ext cx="393192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9808" y="466344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9D3E0"/>
                </a:solidFill>
                <a:latin typeface="Segoe UI"/>
              </a:rPr>
              <a:t>Self-host option for compliance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0" y="4663440"/>
            <a:ext cx="169164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81728" y="4663440"/>
            <a:ext cx="1508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9D3E0"/>
                </a:solidFill>
                <a:latin typeface="Segoe UI"/>
              </a:rPr>
              <a:t>n/a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63640" y="4663440"/>
            <a:ext cx="178308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73368" y="4663440"/>
            <a:ext cx="1600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A96AB"/>
                </a:solidFill>
                <a:latin typeface="Segoe UI"/>
              </a:rPr>
              <a:t>✗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46719" y="4663440"/>
            <a:ext cx="1600200" cy="502920"/>
          </a:xfrm>
          <a:prstGeom prst="roundRect">
            <a:avLst>
              <a:gd name="adj" fmla="val 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56447" y="4663440"/>
            <a:ext cx="1417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D3B6"/>
                </a:solidFill>
                <a:latin typeface="Segoe UI"/>
              </a:rPr>
              <a:t>✓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646919" y="4663440"/>
            <a:ext cx="1874519" cy="502920"/>
          </a:xfrm>
          <a:prstGeom prst="roundRect">
            <a:avLst>
              <a:gd name="adj" fmla="val 0"/>
            </a:avLst>
          </a:prstGeom>
          <a:solidFill>
            <a:srgbClr val="102A28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56647" y="4663440"/>
            <a:ext cx="16916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D3B6"/>
                </a:solidFill>
                <a:latin typeface="Segoe UI"/>
              </a:rPr>
              <a:t>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A96AB"/>
                </a:solidFill>
                <a:latin typeface="Segoe UI"/>
              </a:rPr>
              <a:t>Reference points: LangChain / CrewAI / AutoGen (frameworks), OpenAI Assistants / AWS Bedrock Agents (single-vendor platforms).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09/12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The Agentic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Build order — most of the spine is already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67712"/>
            <a:ext cx="10515600" cy="36576"/>
          </a:xfrm>
          <a:prstGeom prst="rect">
            <a:avLst/>
          </a:prstGeom>
          <a:solidFill>
            <a:srgbClr val="3A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89532" y="2176272"/>
            <a:ext cx="219456" cy="219456"/>
          </a:xfrm>
          <a:prstGeom prst="ellipse">
            <a:avLst/>
          </a:prstGeom>
          <a:solidFill>
            <a:srgbClr val="22D3B6"/>
          </a:solidFill>
          <a:ln w="25400">
            <a:solidFill>
              <a:srgbClr val="0B1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87752"/>
            <a:ext cx="1569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"/>
              </a:rPr>
              <a:t>P0-1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" y="2889504"/>
            <a:ext cx="1642872" cy="5486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Contracts + Auth/LLMs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11296"/>
            <a:ext cx="1661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C9D3E0"/>
                </a:solidFill>
                <a:latin typeface="Segoe UI"/>
              </a:rPr>
              <a:t>21 contracts published; Auth + LLM Gateway 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96340" y="43251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1">
                <a:solidFill>
                  <a:srgbClr val="22D3B6"/>
                </a:solidFill>
                <a:latin typeface="Segoe UI"/>
              </a:rPr>
              <a:t>DONE</a:t>
            </a:r>
          </a:p>
        </p:txBody>
      </p:sp>
      <p:sp>
        <p:nvSpPr>
          <p:cNvPr id="12" name="Oval 11"/>
          <p:cNvSpPr/>
          <p:nvPr/>
        </p:nvSpPr>
        <p:spPr>
          <a:xfrm>
            <a:off x="3342132" y="2176272"/>
            <a:ext cx="219456" cy="219456"/>
          </a:xfrm>
          <a:prstGeom prst="ellipse">
            <a:avLst/>
          </a:prstGeom>
          <a:solidFill>
            <a:srgbClr val="22D3B6"/>
          </a:solidFill>
          <a:ln w="25400">
            <a:solidFill>
              <a:srgbClr val="0B1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7000" y="2587752"/>
            <a:ext cx="1569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"/>
              </a:rPr>
              <a:t>P2-3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0424" y="2889504"/>
            <a:ext cx="1642872" cy="5486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Guardrails/RAG +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1280" y="3511296"/>
            <a:ext cx="1661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C9D3E0"/>
                </a:solidFill>
                <a:latin typeface="Segoe UI"/>
              </a:rPr>
              <a:t>5 SharedCore services running today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48940" y="43251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22D3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1">
                <a:solidFill>
                  <a:srgbClr val="22D3B6"/>
                </a:solidFill>
                <a:latin typeface="Segoe UI"/>
              </a:rPr>
              <a:t>DONE</a:t>
            </a:r>
          </a:p>
        </p:txBody>
      </p:sp>
      <p:sp>
        <p:nvSpPr>
          <p:cNvPr id="17" name="Oval 16"/>
          <p:cNvSpPr/>
          <p:nvPr/>
        </p:nvSpPr>
        <p:spPr>
          <a:xfrm>
            <a:off x="5094732" y="2176272"/>
            <a:ext cx="219456" cy="219456"/>
          </a:xfrm>
          <a:prstGeom prst="ellipse">
            <a:avLst/>
          </a:prstGeom>
          <a:solidFill>
            <a:srgbClr val="4F8CFF"/>
          </a:solidFill>
          <a:ln w="25400">
            <a:solidFill>
              <a:srgbClr val="0B1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9600" y="2587752"/>
            <a:ext cx="1569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4F8CFF"/>
                </a:solidFill>
                <a:latin typeface="Segoe UI"/>
              </a:rPr>
              <a:t>P4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3024" y="2889504"/>
            <a:ext cx="1642872" cy="5486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MCP Tools +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3880" y="3511296"/>
            <a:ext cx="1661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C9D3E0"/>
                </a:solidFill>
                <a:latin typeface="Segoe UI"/>
              </a:rPr>
              <a:t>Tool Registry + web-search live; Skills re-scoped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1540" y="43251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1">
                <a:solidFill>
                  <a:srgbClr val="4F8CFF"/>
                </a:solidFill>
                <a:latin typeface="Segoe UI"/>
              </a:rPr>
              <a:t>IN PROGRESS</a:t>
            </a:r>
          </a:p>
        </p:txBody>
      </p:sp>
      <p:sp>
        <p:nvSpPr>
          <p:cNvPr id="22" name="Oval 21"/>
          <p:cNvSpPr/>
          <p:nvPr/>
        </p:nvSpPr>
        <p:spPr>
          <a:xfrm>
            <a:off x="6847332" y="2176272"/>
            <a:ext cx="219456" cy="219456"/>
          </a:xfrm>
          <a:prstGeom prst="ellipse">
            <a:avLst/>
          </a:prstGeom>
          <a:solidFill>
            <a:srgbClr val="8B6CFF"/>
          </a:solidFill>
          <a:ln w="25400">
            <a:solidFill>
              <a:srgbClr val="0B1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587752"/>
            <a:ext cx="1569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8B6CFF"/>
                </a:solidFill>
                <a:latin typeface="Segoe UI"/>
              </a:rPr>
              <a:t>P5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35624" y="2889504"/>
            <a:ext cx="1642872" cy="5486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xAgent + A2A + Orchestrator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511296"/>
            <a:ext cx="1661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C9D3E0"/>
                </a:solidFill>
                <a:latin typeface="Segoe UI"/>
              </a:rPr>
              <a:t>Single-agent runtime live; A2A router is next build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54140" y="43251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8B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1">
                <a:solidFill>
                  <a:srgbClr val="8B6CFF"/>
                </a:solidFill>
                <a:latin typeface="Segoe UI"/>
              </a:rPr>
              <a:t>NEXT</a:t>
            </a:r>
          </a:p>
        </p:txBody>
      </p:sp>
      <p:sp>
        <p:nvSpPr>
          <p:cNvPr id="27" name="Oval 26"/>
          <p:cNvSpPr/>
          <p:nvPr/>
        </p:nvSpPr>
        <p:spPr>
          <a:xfrm>
            <a:off x="8599932" y="2176272"/>
            <a:ext cx="219456" cy="219456"/>
          </a:xfrm>
          <a:prstGeom prst="ellipse">
            <a:avLst/>
          </a:prstGeom>
          <a:solidFill>
            <a:srgbClr val="FFA53D"/>
          </a:solidFill>
          <a:ln w="25400">
            <a:solidFill>
              <a:srgbClr val="0B1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4799" y="2587752"/>
            <a:ext cx="1569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A53D"/>
                </a:solidFill>
                <a:latin typeface="Segoe UI"/>
              </a:rPr>
              <a:t>P6-7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8224" y="2889504"/>
            <a:ext cx="1642872" cy="5486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FFA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Platform mgmt + 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9080" y="3511296"/>
            <a:ext cx="1661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C9D3E0"/>
                </a:solidFill>
                <a:latin typeface="Segoe UI"/>
              </a:rPr>
              <a:t>Console shipped ahead of plan; control plane next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06740" y="43251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FFA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1">
                <a:solidFill>
                  <a:srgbClr val="FFA53D"/>
                </a:solidFill>
                <a:latin typeface="Segoe UI"/>
              </a:rPr>
              <a:t>NEXT</a:t>
            </a:r>
          </a:p>
        </p:txBody>
      </p:sp>
      <p:sp>
        <p:nvSpPr>
          <p:cNvPr id="32" name="Oval 31"/>
          <p:cNvSpPr/>
          <p:nvPr/>
        </p:nvSpPr>
        <p:spPr>
          <a:xfrm>
            <a:off x="10352532" y="2176272"/>
            <a:ext cx="219456" cy="219456"/>
          </a:xfrm>
          <a:prstGeom prst="ellipse">
            <a:avLst/>
          </a:prstGeom>
          <a:solidFill>
            <a:srgbClr val="FF6B6B"/>
          </a:solidFill>
          <a:ln w="25400">
            <a:solidFill>
              <a:srgbClr val="0B11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7400" y="2587752"/>
            <a:ext cx="1569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6B6B"/>
                </a:solidFill>
                <a:latin typeface="Segoe UI"/>
              </a:rPr>
              <a:t>P8-9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0824" y="2889504"/>
            <a:ext cx="1642872" cy="548640"/>
          </a:xfrm>
          <a:prstGeom prst="roundRect">
            <a:avLst>
              <a:gd name="adj" fmla="val 14000"/>
            </a:avLst>
          </a:prstGeom>
          <a:solidFill>
            <a:srgbClr val="18243B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Hardening + SDKs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1680" y="3511296"/>
            <a:ext cx="1661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C9D3E0"/>
                </a:solidFill>
                <a:latin typeface="Segoe UI"/>
              </a:rPr>
              <a:t>Security audit, load test, Python/TS SDKs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59340" y="43251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21B2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1">
                <a:solidFill>
                  <a:srgbClr val="FF6B6B"/>
                </a:solidFill>
                <a:latin typeface="Segoe UI"/>
              </a:rPr>
              <a:t>UPCOMING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A96AB"/>
                </a:solidFill>
                <a:latin typeface="Segoe UI"/>
              </a:rPr>
              <a:t>First-cycle spine is functionally complete; remaining work is two net-new services (A2A/orchestration, control plane) plus enterprise hardening.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10/12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The Agentic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B6"/>
                </a:solidFill>
                <a:latin typeface="Segoe UI Semibold"/>
              </a:rPr>
              <a:t>RESEARCH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Grounding and prior 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44168"/>
            <a:ext cx="822960" cy="41148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B6"/>
                </a:solidFill>
                <a:latin typeface="Segoe UI Semibold"/>
              </a:rPr>
              <a:t>TECHNICAL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1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Agent2Agent (A2A) protocol — standardised task delegation between agents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1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Model Context Protocol (MCP) — standardised tool &amp; skill invocation for agents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1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Contract-first API design — versioned schemas as the source of truth across services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1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Row-Level Security (Postgres) — multi-tenant data isolation pattern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1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Retrieval-Augmented Generation (RAG) — grounding agent responses in retrieved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727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A53D"/>
                </a:solidFill>
                <a:latin typeface="Segoe UI Semibold"/>
              </a:rPr>
              <a:t>MARKET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96596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150" b="1">
                <a:solidFill>
                  <a:srgbClr val="FFA53D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LangChain / CrewAI / AutoGen — popular agent frameworks (libraries, not multi-tenant SaaS)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150" b="1">
                <a:solidFill>
                  <a:srgbClr val="FFA53D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OpenAI Assistants API — single-vendor agent hosting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150" b="1">
                <a:solidFill>
                  <a:srgbClr val="FFA53D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AWS Bedrock Agents / Google Vertex Agent Builder — cloud-native, single-vendor agent platforms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150" b="1">
                <a:solidFill>
                  <a:srgbClr val="FFA53D"/>
                </a:solidFill>
                <a:latin typeface="Segoe UI"/>
              </a:rPr>
              <a:t>›  </a:t>
            </a:r>
            <a:r>
              <a:rPr sz="1150">
                <a:solidFill>
                  <a:srgbClr val="C9D3E0"/>
                </a:solidFill>
                <a:latin typeface="Segoe UI"/>
              </a:rPr>
              <a:t>Enterprise surveys on AI vendor lock-in and multi-agent interoperability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46320"/>
            <a:ext cx="10881360" cy="640080"/>
          </a:xfrm>
          <a:prstGeom prst="roundRect">
            <a:avLst>
              <a:gd name="adj" fmla="val 12000"/>
            </a:avLst>
          </a:prstGeom>
          <a:solidFill>
            <a:srgbClr val="121B2E"/>
          </a:solidFill>
          <a:ln w="12700">
            <a:solidFill>
              <a:srgbClr val="3A4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8A96AB"/>
                </a:solidFill>
                <a:latin typeface="Segoe UI"/>
              </a:rPr>
              <a:t>[Add hackathon-specific citations, links and datasets used, here.]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11/12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The Agentic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12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194560" y="4389120"/>
            <a:ext cx="4206240" cy="4206240"/>
          </a:xfrm>
          <a:prstGeom prst="ellipse">
            <a:avLst/>
          </a:prstGeom>
          <a:solidFill>
            <a:srgbClr val="12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9D3E0"/>
                </a:solidFill>
                <a:latin typeface="Segoe UI"/>
              </a:rPr>
              <a:t>CypherX AI — the platform that lets agents build, talk, and trust each 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7772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3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350">
                <a:solidFill>
                  <a:srgbClr val="C9D3E0"/>
                </a:solidFill>
                <a:latin typeface="Segoe UI"/>
              </a:rPr>
              <a:t>Questions &amp; Demo — happy to walk through the running 27-service stack</a:t>
            </a:r>
          </a:p>
          <a:p>
            <a:pPr>
              <a:lnSpc>
                <a:spcPct val="108000"/>
              </a:lnSpc>
              <a:spcAft>
                <a:spcPts val="864"/>
              </a:spcAft>
            </a:pPr>
            <a:r>
              <a:rPr sz="1350" b="1">
                <a:solidFill>
                  <a:srgbClr val="22D3B6"/>
                </a:solidFill>
                <a:latin typeface="Segoe UI"/>
              </a:rPr>
              <a:t>›  </a:t>
            </a:r>
            <a:r>
              <a:rPr sz="1350">
                <a:solidFill>
                  <a:srgbClr val="C9D3E0"/>
                </a:solidFill>
                <a:latin typeface="Segoe UI"/>
              </a:rPr>
              <a:t>Team CypherX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12/12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6AB"/>
                </a:solidFill>
                <a:latin typeface="Segoe UI"/>
              </a:rPr>
              <a:t>CypherX AI  ·  The Agentic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
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194560" y="4389120"/>
            <a:ext cx="4206240" cy="420624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 Semibold"/>
              </a:rPr>
              <a:t>SMART INDIA HACKATHON / TEAM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Problem Statement ID  —  [fill from portal]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Problem Statement Title  —  Fragmented Engineering Knowledge &amp; Repeated AI Context Rediscovery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11095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Theme  —  Software / AI &amp; Emerging Technologies          PS Category  — 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cypherx-a1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C9D3E0"/>
                </a:solidFill>
                <a:latin typeface="Segoe UI"/>
              </a:rPr>
              <a:t>Autonomous Engineering Memory for Human &amp; AI Developers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>
                <a:solidFill>
                  <a:srgbClr val="22D3B6"/>
                </a:solidFill>
                <a:latin typeface="Segoe UI"/>
              </a:rPr>
              <a:t>Cited Knowledge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4343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>
                <a:solidFill>
                  <a:srgbClr val="8B6CFF"/>
                </a:solidFill>
                <a:latin typeface="Segoe UI"/>
              </a:rPr>
              <a:t>MCP-Native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43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>
                <a:solidFill>
                  <a:srgbClr val="4F8CFF"/>
                </a:solidFill>
                <a:latin typeface="Segoe UI"/>
              </a:rPr>
              <a:t>SaaS + Self-Host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4343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>
                <a:solidFill>
                  <a:srgbClr val="FFA53D"/>
                </a:solidFill>
                <a:latin typeface="Segoe UI"/>
              </a:rPr>
              <a:t>Evidence-Based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Team Name  —  CypherX AI          Team ID  —  [fill from portal]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01/12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Knowledge is scattered — and rediscovered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166360" cy="15087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82296" cy="15087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7647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Knowledge lives in 6+ silos.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167128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D3E0"/>
                </a:solidFill>
                <a:latin typeface="Segoe UI"/>
              </a:rPr>
              <a:t>Code, PRs, Jira tickets, Slack threads, incident postmortems and docs never connect to each 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66360" cy="15087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82296" cy="1508760"/>
          </a:xfrm>
          <a:prstGeom prst="rect">
            <a:avLst/>
          </a:prstGeom>
          <a:solidFill>
            <a:srgbClr val="FF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7647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AI coding agents rebuild context every session.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167128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D3E0"/>
                </a:solidFill>
                <a:latin typeface="Segoe UI"/>
              </a:rPr>
              <a:t>Claude Code, Cursor and Copilot re-read the repo from zero each time — burning tokens, time and money.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5166360" cy="15087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82296" cy="150876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41071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Institutional memory walks out the door.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3813048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D3E0"/>
                </a:solidFill>
                <a:latin typeface="Segoe UI"/>
              </a:rPr>
              <a:t>When an engineer leaves or a Slack channel gets archived, the “why” behind a decision disappears.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46120"/>
            <a:ext cx="5166360" cy="15087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246120"/>
            <a:ext cx="82296" cy="15087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41071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Nothing is cited.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813048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D3E0"/>
                </a:solidFill>
                <a:latin typeface="Segoe UI"/>
              </a:rPr>
              <a:t>Wikis go stale; AI answers hallucinate. Nobody can trust “who owns this” or “why was this built” without proof.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22D3B6"/>
                </a:solidFill>
                <a:latin typeface="Segoe UI"/>
              </a:rPr>
              <a:t>Result: slower onboarding, repeated incidents, ballooning AI token spend, and engineering knowledge that decays instead of compounding.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02/12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cypherx-a1: a cited memory graph for humans &amp;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9D3E0"/>
                </a:solidFill>
                <a:latin typeface="Segoe UI"/>
              </a:rPr>
              <a:t>cypherx-a1 continuously ingests GitHub (Jira &amp; Slack next), builds a tenant-scoped Knowledge Graph + RAG corpus, and serves every answer with citations and confidence — through a chat copilot for humans and a stateless MCP server for AI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3520440" cy="82296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2D3B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Unified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D3E0"/>
                </a:solidFill>
                <a:latin typeface="Segoe UI"/>
              </a:rPr>
              <a:t>Connects code entities, PRs, tickets, Slack threads, incidents and ownership in ONE graph — not a flat vector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1460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514600"/>
            <a:ext cx="3520440" cy="82296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6C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MCP-Native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57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D3E0"/>
                </a:solidFill>
                <a:latin typeface="Segoe UI"/>
              </a:rPr>
              <a:t>AI agents query cypherx-a1 directly via MCP — “who owns this / what breaks if I change X” — instead of re-reading the repo.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51460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2514600"/>
            <a:ext cx="35204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F8CF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Evidence-Based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57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D3E0"/>
                </a:solidFill>
                <a:latin typeface="Segoe UI"/>
              </a:rPr>
              <a:t>Every fact carries source, confidence and evidence. No answer without a citation, human or agent.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A53D"/>
                </a:solidFill>
                <a:latin typeface="Segoe UI"/>
              </a:rPr>
              <a:t>Innovation: prior tools give you either a code index (no organizational context) or a chat wiki (no citations, no agent access). cypherx-a1 is the first to unify both, cited, for agents and humans alike.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03/12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One question, traced across the entire engineering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22D3B6"/>
                </a:solidFill>
                <a:latin typeface="Segoe UI"/>
              </a:rPr>
              <a:t>“What breaks if I change the login endpoint?”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7672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Login
Endpoint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11528" y="2537460"/>
            <a:ext cx="75184" cy="0"/>
          </a:xfrm>
          <a:prstGeom prst="line">
            <a:avLst/>
          </a:prstGeom>
          <a:ln w="1905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86712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20568" y="2537460"/>
            <a:ext cx="75184" cy="0"/>
          </a:xfrm>
          <a:prstGeom prst="line">
            <a:avLst/>
          </a:prstGeom>
          <a:ln w="1905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95752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29608" y="2537460"/>
            <a:ext cx="75184" cy="0"/>
          </a:xfrm>
          <a:prstGeom prst="line">
            <a:avLst/>
          </a:prstGeom>
          <a:ln w="1905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04792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38648" y="2537460"/>
            <a:ext cx="75184" cy="0"/>
          </a:xfrm>
          <a:prstGeom prst="line">
            <a:avLst/>
          </a:prstGeom>
          <a:ln w="1905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13832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Pull
Request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47688" y="2537460"/>
            <a:ext cx="75184" cy="0"/>
          </a:xfrm>
          <a:prstGeom prst="line">
            <a:avLst/>
          </a:prstGeom>
          <a:ln w="1905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22872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Jira
Ticket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56728" y="2537460"/>
            <a:ext cx="75183" cy="0"/>
          </a:xfrm>
          <a:prstGeom prst="line">
            <a:avLst/>
          </a:prstGeom>
          <a:ln w="1905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31911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Slack
Discussion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65768" y="2537460"/>
            <a:ext cx="75183" cy="0"/>
          </a:xfrm>
          <a:prstGeom prst="line">
            <a:avLst/>
          </a:prstGeom>
          <a:ln w="1905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0951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Incident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74807" y="2537460"/>
            <a:ext cx="75184" cy="0"/>
          </a:xfrm>
          <a:prstGeom prst="line">
            <a:avLst/>
          </a:prstGeom>
          <a:ln w="1905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49991" y="2148840"/>
            <a:ext cx="1133856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9D3E0"/>
                </a:solidFill>
                <a:latin typeface="Segoe UI"/>
              </a:rPr>
              <a:t>Graph traversal + hybrid retrieval (dense + keyword, RRF-fused) assembles the full chain in one query.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10881360" cy="132588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5020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D3B6"/>
                </a:solidFill>
                <a:latin typeface="Segoe UI Semibold"/>
              </a:rPr>
              <a:t>CITED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9D3E0"/>
                </a:solidFill>
                <a:latin typeface="Segoe UI"/>
              </a:rPr>
              <a:t>“Changing the login endpoint affects AuthService → users table. Last touched in PR #482 (linked to JIRA-1190), discussed in #eng-auth, and caused INC-77. Current owner: @maria. 3 tests currently cover this path.”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04/12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System architecture — ingest once, serve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A9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C9D3E0"/>
                </a:solidFill>
                <a:latin typeface="Segoe UI"/>
              </a:rPr>
              <a:t>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572768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A9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C9D3E0"/>
                </a:solidFill>
                <a:latin typeface="Segoe UI"/>
              </a:rPr>
              <a:t>Jira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572768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A9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C9D3E0"/>
                </a:solidFill>
                <a:latin typeface="Segoe UI"/>
              </a:rPr>
              <a:t>Slack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572768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A9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C9D3E0"/>
                </a:solidFill>
                <a:latin typeface="Segoe UI"/>
              </a:rPr>
              <a:t>CI/CD &amp; Incidents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2029967"/>
            <a:ext cx="0" cy="256033"/>
          </a:xfrm>
          <a:prstGeom prst="line">
            <a:avLst/>
          </a:prstGeom>
          <a:ln w="22225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2331720"/>
            <a:ext cx="7863840" cy="457200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Connectors  →  Canonical Normalizer  →  Identity Resolution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2788920"/>
            <a:ext cx="0" cy="201167"/>
          </a:xfrm>
          <a:prstGeom prst="line">
            <a:avLst/>
          </a:prstGeom>
          <a:ln w="22225">
            <a:solidFill>
              <a:srgbClr val="4F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063239"/>
            <a:ext cx="5120640" cy="59436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Engineering Knowledge Graph</a:t>
            </a:r>
          </a:p>
          <a:p>
            <a:pPr algn="ctr"/>
            <a:r>
              <a:rPr sz="850">
                <a:solidFill>
                  <a:srgbClr val="8A96AB"/>
                </a:solidFill>
                <a:latin typeface="Segoe UI"/>
              </a:rPr>
              <a:t>entities · edges · ownership · RLS per tenant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063239"/>
            <a:ext cx="5120640" cy="59436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RAG Corpus (pgvector)</a:t>
            </a:r>
          </a:p>
          <a:p>
            <a:pPr algn="ctr"/>
            <a:r>
              <a:rPr sz="850">
                <a:solidFill>
                  <a:srgbClr val="8A96AB"/>
                </a:solidFill>
                <a:latin typeface="Segoe UI"/>
              </a:rPr>
              <a:t>dense chunks · pinned embedding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120640" cy="438912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LLM Knowledge Extraction Pass</a:t>
            </a:r>
          </a:p>
          <a:p>
            <a:pPr algn="ctr"/>
            <a:r>
              <a:rPr sz="800">
                <a:solidFill>
                  <a:srgbClr val="8A96AB"/>
                </a:solidFill>
                <a:latin typeface="Segoe UI"/>
              </a:rPr>
              <a:t>bitemporal · idempotent · cost-metered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657599"/>
            <a:ext cx="0" cy="91440"/>
          </a:xfrm>
          <a:prstGeom prst="line">
            <a:avLst/>
          </a:prstGeom>
          <a:ln w="22225">
            <a:solidFill>
              <a:srgbClr val="22D3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0" y="3355847"/>
            <a:ext cx="2743200" cy="0"/>
          </a:xfrm>
          <a:prstGeom prst="line">
            <a:avLst/>
          </a:prstGeom>
          <a:ln w="15875">
            <a:solidFill>
              <a:srgbClr val="8A96AB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0" y="4187952"/>
            <a:ext cx="2560320" cy="128016"/>
          </a:xfrm>
          <a:prstGeom prst="line">
            <a:avLst/>
          </a:prstGeom>
          <a:ln w="22225">
            <a:solidFill>
              <a:srgbClr val="4F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720" y="3657599"/>
            <a:ext cx="2743200" cy="658369"/>
          </a:xfrm>
          <a:prstGeom prst="line">
            <a:avLst/>
          </a:prstGeom>
          <a:ln w="22225">
            <a:solidFill>
              <a:srgbClr val="8B6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4315968"/>
            <a:ext cx="6035040" cy="457200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Retrieval Orchestrator — Graph + Dense + Keyword, RRF Fusion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4773168"/>
            <a:ext cx="0" cy="201168"/>
          </a:xfrm>
          <a:prstGeom prst="line">
            <a:avLst/>
          </a:prstGeom>
          <a:ln w="22225">
            <a:solidFill>
              <a:srgbClr val="22D3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0" y="5047488"/>
            <a:ext cx="5120640" cy="41148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Guardrails  (fail-closed policy check)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5458968"/>
            <a:ext cx="0" cy="182880"/>
          </a:xfrm>
          <a:prstGeom prst="line">
            <a:avLst/>
          </a:prstGeom>
          <a:ln w="22225">
            <a:solidFill>
              <a:srgbClr val="FF6B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5715000"/>
            <a:ext cx="5120640" cy="502920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Cited Copilot API</a:t>
            </a:r>
          </a:p>
          <a:p>
            <a:pPr algn="ctr"/>
            <a:r>
              <a:rPr sz="850">
                <a:solidFill>
                  <a:srgbClr val="8A96AB"/>
                </a:solidFill>
                <a:latin typeface="Segoe UI"/>
              </a:rPr>
              <a:t>for developers (chat)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5715000"/>
            <a:ext cx="5120640" cy="502920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mcp-eng-memory (stateless MCP server)</a:t>
            </a:r>
          </a:p>
          <a:p>
            <a:pPr algn="ctr"/>
            <a:r>
              <a:rPr sz="850">
                <a:solidFill>
                  <a:srgbClr val="8A96AB"/>
                </a:solidFill>
                <a:latin typeface="Segoe UI"/>
              </a:rPr>
              <a:t>for AI agents (Claude Code, Cursor…)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05/12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API &amp;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Python 3.12 · FastAPI · uv · asyncio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73152" cy="1234440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922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7627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PostgreSQL (adjacency-list graph + recursive CTEs) · pgvector · Atlas migrations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36392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36392"/>
            <a:ext cx="73152" cy="123444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826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Eventing &amp;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66744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Kafka (outbox pattern) · Redis / Valkey (revocation mirror)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36392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36392"/>
            <a:ext cx="73152" cy="1234440"/>
          </a:xfrm>
          <a:prstGeom prst="rect">
            <a:avLst/>
          </a:prstGeom>
          <a:solidFill>
            <a:srgbClr val="FF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2826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Auth &amp;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66744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JWT RS256 + JWKS · per-tenant Row-Level Security · KMS-sealed connector secrets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26864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626864"/>
            <a:ext cx="73152" cy="1234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731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AI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5721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Provider-agnostic LLM gateway · guardrails (fail-closed) · pinned embedding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626864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626864"/>
            <a:ext cx="73152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7731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Agent Interop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15721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Model Context Protocol (MCP) server · stateless facade · manifest-validated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06/12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Not vapourware — the MVP already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 Semibold"/>
              </a:rPr>
              <a:t>WHY IT'S FEASIBLE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50" b="1">
                <a:solidFill>
                  <a:srgbClr val="FFFFFF"/>
                </a:solidFill>
                <a:latin typeface="Segoe UI"/>
              </a:rPr>
              <a:t>MVP is implemented today: </a:t>
            </a:r>
            <a:r>
              <a:rPr sz="1250">
                <a:solidFill>
                  <a:srgbClr val="C9D3E0"/>
                </a:solidFill>
                <a:latin typeface="Segoe UI"/>
              </a:rPr>
              <a:t>GitHub connector, graph + RAG pipeline, LLM extraction, cited copilot and MCP server all run end-to-end.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50" b="1">
                <a:solidFill>
                  <a:srgbClr val="FFFFFF"/>
                </a:solidFill>
                <a:latin typeface="Segoe UI"/>
              </a:rPr>
              <a:t>Built on proven, boring technology: </a:t>
            </a:r>
            <a:r>
              <a:rPr sz="1250">
                <a:solidFill>
                  <a:srgbClr val="C9D3E0"/>
                </a:solidFill>
                <a:latin typeface="Segoe UI"/>
              </a:rPr>
              <a:t>PostgreSQL, Kafka, FastAPI, JWT — no exotic infra, fast to harden and deploy.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50" b="1">
                <a:solidFill>
                  <a:srgbClr val="FFFFFF"/>
                </a:solidFill>
                <a:latin typeface="Segoe UI"/>
              </a:rPr>
              <a:t>Keyless demo mode: </a:t>
            </a:r>
            <a:r>
              <a:rPr sz="1250">
                <a:solidFill>
                  <a:srgbClr val="C9D3E0"/>
                </a:solidFill>
                <a:latin typeface="Segoe UI"/>
              </a:rPr>
              <a:t>bundled GitHub fixtures let the platform be evaluated without any live credentials.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50" b="1">
                <a:solidFill>
                  <a:srgbClr val="FFFFFF"/>
                </a:solidFill>
                <a:latin typeface="Segoe UI"/>
              </a:rPr>
              <a:t>Contract-driven design: </a:t>
            </a:r>
            <a:r>
              <a:rPr sz="1250">
                <a:solidFill>
                  <a:srgbClr val="C9D3E0"/>
                </a:solidFill>
                <a:latin typeface="Segoe UI"/>
              </a:rPr>
              <a:t>versioned APIs, health checks, structured logs and tracing are already first-class, not bolted on later.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A53D"/>
                </a:solidFill>
                <a:latin typeface="Segoe UI Semibold"/>
              </a:rPr>
              <a:t>RISKS &amp; MITIGATIONS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212080" cy="713232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391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Connector breadth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951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Sequenced rollout — GitHub thickened first, Jira/Slack next as the “why” moat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788920"/>
            <a:ext cx="5212080" cy="713232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6207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LLM cost &amp;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18103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Idempotent, bitemporal, cost-metered extraction; static analysis handles the deterministic part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11879"/>
            <a:ext cx="5212080" cy="713232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85031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Enterprise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41063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Self-host deployment option + per-tenant RLS + KMS-sealed secrets + GDPR wipe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434840"/>
            <a:ext cx="5212080" cy="713232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5079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6402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Differentiate on unified, cited, cross-source graph + MCP-native agent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07/12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Who benefits,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320040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11E"/>
                </a:solidFill>
                <a:latin typeface="Segoe UI"/>
              </a:rPr>
              <a:t>Developers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Faster onboarding — new engineers get cited answers, not tribal knowledge hunts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Less time re-explaining context to AI coding tools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Faster incident root-cause: code ↔ owner ↔ history in one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520440" cy="320040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1907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11E"/>
                </a:solidFill>
                <a:latin typeface="Segoe UI"/>
              </a:rPr>
              <a:t>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8B6CFF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Retrieve structured intelligence instead of re-reading the whole repo every session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8B6CFF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Large reduction in tokens, latency and cost per coding task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8B6CFF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MCP-native — works with Claude Code, Cursor, Copilot and future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600200"/>
            <a:ext cx="3520440" cy="320040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59" y="1600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71907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11E"/>
                </a:solidFill>
                <a:latin typeface="Segoe UI"/>
              </a:rPr>
              <a:t>Organizations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4F8CFF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Institutional knowledge survives attrition and channel churn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4F8CFF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Self-host option satisfies data-residency &amp; compliance requirements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50" b="1">
                <a:solidFill>
                  <a:srgbClr val="4F8CFF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Evidence-based answers build trust where AI-only tools cannot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08/12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Competitive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39"/>
            <a:ext cx="3931920" cy="566928"/>
          </a:xfrm>
          <a:prstGeom prst="roundRect">
            <a:avLst>
              <a:gd name="adj" fmla="val 6000"/>
            </a:avLst>
          </a:prstGeom>
          <a:solidFill>
            <a:srgbClr val="18243B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746504"/>
            <a:ext cx="37856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9D3E0"/>
                </a:solidFill>
                <a:latin typeface="Segoe UI"/>
              </a:rPr>
              <a:t>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91639"/>
            <a:ext cx="1691640" cy="566928"/>
          </a:xfrm>
          <a:prstGeom prst="roundRect">
            <a:avLst>
              <a:gd name="adj" fmla="val 6000"/>
            </a:avLst>
          </a:prstGeom>
          <a:solidFill>
            <a:srgbClr val="18243B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746504"/>
            <a:ext cx="15453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9D3E0"/>
                </a:solidFill>
                <a:latin typeface="Segoe UI"/>
              </a:rPr>
              <a:t>Vector-search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9D3E0"/>
                </a:solidFill>
                <a:latin typeface="Segoe UI"/>
              </a:rPr>
              <a:t>wiki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39"/>
            <a:ext cx="1691640" cy="566928"/>
          </a:xfrm>
          <a:prstGeom prst="roundRect">
            <a:avLst>
              <a:gd name="adj" fmla="val 6000"/>
            </a:avLst>
          </a:prstGeom>
          <a:solidFill>
            <a:srgbClr val="18243B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746504"/>
            <a:ext cx="15453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9D3E0"/>
                </a:solidFill>
                <a:latin typeface="Segoe UI"/>
              </a:rPr>
              <a:t>Code-index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9D3E0"/>
                </a:solidFill>
                <a:latin typeface="Segoe U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91639"/>
            <a:ext cx="1783080" cy="566928"/>
          </a:xfrm>
          <a:prstGeom prst="roundRect">
            <a:avLst>
              <a:gd name="adj" fmla="val 6000"/>
            </a:avLst>
          </a:prstGeom>
          <a:solidFill>
            <a:srgbClr val="18243B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746504"/>
            <a:ext cx="16367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9D3E0"/>
                </a:solidFill>
                <a:latin typeface="Segoe UI"/>
              </a:rPr>
              <a:t>Platform-native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9D3E0"/>
                </a:solidFill>
                <a:latin typeface="Segoe UI"/>
              </a:rPr>
              <a:t>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59" y="1691639"/>
            <a:ext cx="1783080" cy="566928"/>
          </a:xfrm>
          <a:prstGeom prst="roundRect">
            <a:avLst>
              <a:gd name="adj" fmla="val 6000"/>
            </a:avLst>
          </a:prstGeom>
          <a:solidFill>
            <a:srgbClr val="22D3B6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1511" y="1746504"/>
            <a:ext cx="16367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11E"/>
                </a:solidFill>
                <a:latin typeface="Segoe UI"/>
              </a:rPr>
              <a:t>cypherx-a1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258568"/>
            <a:ext cx="393192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258568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Cross-source graph (code + PRs + tickets + chat)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258568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258568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258568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258568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2258568"/>
            <a:ext cx="178308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7" y="225856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9D3E0"/>
                </a:solidFill>
                <a:latin typeface="Segoe UI"/>
              </a:rPr>
              <a:t>partial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59" y="2258568"/>
            <a:ext cx="1783080" cy="566928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7" y="225856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825496"/>
            <a:ext cx="393192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825496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Every answer cited with evidence &amp; confidence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2825496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2825496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825496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825496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9D3E0"/>
                </a:solidFill>
                <a:latin typeface="Segoe UI"/>
              </a:rPr>
              <a:t>partial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2825496"/>
            <a:ext cx="178308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5007" y="2825496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59" y="2825496"/>
            <a:ext cx="1783080" cy="566928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8087" y="2825496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392424"/>
            <a:ext cx="393192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392424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Native MCP access for AI coding agents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3392424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3392424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392424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392424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79" y="3392424"/>
            <a:ext cx="178308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7" y="3392424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9D3E0"/>
                </a:solidFill>
                <a:latin typeface="Segoe UI"/>
              </a:rPr>
              <a:t>partial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59" y="3392424"/>
            <a:ext cx="1783080" cy="566928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48087" y="3392424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959352"/>
            <a:ext cx="393192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3959352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Self-host for data residency / compliance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3959352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1728" y="3959352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9D3E0"/>
                </a:solidFill>
                <a:latin typeface="Segoe UI"/>
              </a:rPr>
              <a:t>varies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3959352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959352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9D3E0"/>
                </a:solidFill>
                <a:latin typeface="Segoe UI"/>
              </a:rPr>
              <a:t>varies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79" y="3959352"/>
            <a:ext cx="178308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65007" y="3959352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38359" y="3959352"/>
            <a:ext cx="1783080" cy="566928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48087" y="3959352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4526280"/>
            <a:ext cx="393192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452628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9D3E0"/>
                </a:solidFill>
                <a:latin typeface="Segoe UI"/>
              </a:rPr>
              <a:t>Incident ↔ code ↔ owner traceability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0" y="4526280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81728" y="452628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4526280"/>
            <a:ext cx="169164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3368" y="452628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55279" y="4526280"/>
            <a:ext cx="1783080" cy="566928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65007" y="4526280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738359" y="4526280"/>
            <a:ext cx="1783080" cy="566928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8087" y="4526280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52760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96AB"/>
                </a:solidFill>
                <a:latin typeface="Segoe UI"/>
              </a:rPr>
              <a:t>Closest competitor: Unblocked. Key threats to watch: Glean, GitHub/Microsoft native memory features.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09/12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MVP → v1 build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67712"/>
            <a:ext cx="10515600" cy="36576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64791" y="2176272"/>
            <a:ext cx="219456" cy="219456"/>
          </a:xfrm>
          <a:prstGeom prst="ellipse">
            <a:avLst/>
          </a:prstGeom>
          <a:solidFill>
            <a:srgbClr val="22D3B6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99" y="258775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"/>
              </a:rPr>
              <a:t>P1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1" y="2889504"/>
            <a:ext cx="1956815" cy="50292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Connectors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Slack + Jira live (the “why” moat); thicken GitHub</a:t>
            </a:r>
          </a:p>
        </p:txBody>
      </p:sp>
      <p:sp>
        <p:nvSpPr>
          <p:cNvPr id="11" name="Oval 10"/>
          <p:cNvSpPr/>
          <p:nvPr/>
        </p:nvSpPr>
        <p:spPr>
          <a:xfrm>
            <a:off x="3867911" y="2176272"/>
            <a:ext cx="219456" cy="219456"/>
          </a:xfrm>
          <a:prstGeom prst="ellipse">
            <a:avLst/>
          </a:prstGeom>
          <a:solidFill>
            <a:srgbClr val="4F8CFF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58775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F8CFF"/>
                </a:solidFill>
                <a:latin typeface="Segoe UI"/>
              </a:rPr>
              <a:t>P2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2889504"/>
            <a:ext cx="1956815" cy="50292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Security Hardening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7472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Resource ACLs · GDPR wipe · KMS secret sealing</a:t>
            </a:r>
          </a:p>
        </p:txBody>
      </p:sp>
      <p:sp>
        <p:nvSpPr>
          <p:cNvPr id="15" name="Oval 14"/>
          <p:cNvSpPr/>
          <p:nvPr/>
        </p:nvSpPr>
        <p:spPr>
          <a:xfrm>
            <a:off x="5971032" y="2176272"/>
            <a:ext cx="219456" cy="219456"/>
          </a:xfrm>
          <a:prstGeom prst="ellipse">
            <a:avLst/>
          </a:prstGeom>
          <a:solidFill>
            <a:srgbClr val="8B6CFF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58775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B6CFF"/>
                </a:solidFill>
                <a:latin typeface="Segoe UI"/>
              </a:rPr>
              <a:t>P3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2889504"/>
            <a:ext cx="1956815" cy="50292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Scale-Out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47472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Activate the Kafka worker (currently a sleep loop)</a:t>
            </a:r>
          </a:p>
        </p:txBody>
      </p:sp>
      <p:sp>
        <p:nvSpPr>
          <p:cNvPr id="19" name="Oval 18"/>
          <p:cNvSpPr/>
          <p:nvPr/>
        </p:nvSpPr>
        <p:spPr>
          <a:xfrm>
            <a:off x="8074152" y="2176272"/>
            <a:ext cx="219456" cy="219456"/>
          </a:xfrm>
          <a:prstGeom prst="ellipse">
            <a:avLst/>
          </a:prstGeom>
          <a:solidFill>
            <a:srgbClr val="FFA53D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258775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A53D"/>
                </a:solidFill>
                <a:latin typeface="Segoe UI"/>
              </a:rPr>
              <a:t>P4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5471" y="2889504"/>
            <a:ext cx="1956815" cy="50292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Quality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39" y="347472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Eval harness as a CI asset; flag-gated feature rollout</a:t>
            </a:r>
          </a:p>
        </p:txBody>
      </p:sp>
      <p:sp>
        <p:nvSpPr>
          <p:cNvPr id="23" name="Oval 22"/>
          <p:cNvSpPr/>
          <p:nvPr/>
        </p:nvSpPr>
        <p:spPr>
          <a:xfrm>
            <a:off x="10177272" y="2176272"/>
            <a:ext cx="219456" cy="21945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58775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6B6B"/>
                </a:solidFill>
                <a:latin typeface="Segoe UI"/>
              </a:rPr>
              <a:t>P5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2889504"/>
            <a:ext cx="1956815" cy="50292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Packaging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47472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Ship SaaS + self-host, bundling a minimal SharedCore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96AB"/>
                </a:solidFill>
                <a:latin typeface="Segoe UI"/>
              </a:rPr>
              <a:t>Near-term goal: harden and complete the MVP into v1 before the GTM push. Primary buyer: human engineering teams first — agents are leverage, not the lead.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10/12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Grounding and prior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 Semibold"/>
              </a:rPr>
              <a:t>TECHNICAL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Model Context Protocol (MCP) specification — agent-tool interoperability standard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Reciprocal Rank Fusion (RRF) — hybrid dense + keyword retrieval ranking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Row-Level Security (Postgres) — multi-tenant data isolation pattern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Atlas — declarative schema migrations for the graph store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22D3B6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Retrieval-Augmented Generation (RAG) — grounding LLM answers in cited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A53D"/>
                </a:solidFill>
                <a:latin typeface="Segoe UI Semibold"/>
              </a:rPr>
              <a:t>MARKET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6596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FFA53D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Unblocked — closest direct competitor (engineering knowledge search)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FFA53D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Glean — enterprise workplace search / knowledge platform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FFA53D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GitHub Copilot / Microsoft 365 Copilot — platform-native memory features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200" b="1">
                <a:solidFill>
                  <a:srgbClr val="FFA53D"/>
                </a:solidFill>
                <a:latin typeface="Segoe UI"/>
              </a:rPr>
              <a:t>›  </a:t>
            </a:r>
            <a:r>
              <a:rPr sz="1200">
                <a:solidFill>
                  <a:srgbClr val="C9D3E0"/>
                </a:solidFill>
                <a:latin typeface="Segoe UI"/>
              </a:rPr>
              <a:t>Developer surveys on AI-assistant token cost &amp; repeated context rebuilding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10881360" cy="64008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96AB"/>
                </a:solidFill>
                <a:latin typeface="Segoe UI"/>
              </a:rPr>
              <a:t>[Add hackathon-specific citations, links and datasets used, here.]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11/12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194560" y="4389120"/>
            <a:ext cx="4206240" cy="420624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9D3E0"/>
                </a:solidFill>
                <a:latin typeface="Segoe UI"/>
              </a:rPr>
              <a:t>cypherx-a1 — the engineering memory that never forgets, and never guesses.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3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350">
                <a:solidFill>
                  <a:srgbClr val="C9D3E0"/>
                </a:solidFill>
                <a:latin typeface="Segoe UI"/>
              </a:rPr>
              <a:t>Questions &amp; Demo — happy to walk through a live query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3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350">
                <a:solidFill>
                  <a:srgbClr val="C9D3E0"/>
                </a:solidFill>
                <a:latin typeface="Segoe UI"/>
              </a:rPr>
              <a:t>Team CypherX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12/12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cypherx-a1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